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7306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558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720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4062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823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828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3333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3764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388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1505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1687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455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88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halilbriktn.github.io/personal-website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64008" cy="5143500"/>
          </a:xfrm>
          <a:prstGeom prst="rect">
            <a:avLst/>
          </a:prstGeom>
          <a:solidFill>
            <a:srgbClr val="2DD4BF">
              <a:alpha val="4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4846320"/>
            <a:ext cx="8577072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4320"/>
            <a:ext cx="638310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for</a:t>
            </a:r>
            <a:endParaRPr lang="en-US" sz="4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 Selection</a:t>
            </a:r>
            <a:endParaRPr lang="en-US" sz="4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Budget Constraint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17520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u="sng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Khalil Brik</a:t>
            </a:r>
            <a:r>
              <a:rPr lang="en-US" sz="2000" dirty="0">
                <a:solidFill>
                  <a:schemeClr val="bg1"/>
                </a:solidFill>
              </a:rPr>
              <a:t>¹</a:t>
            </a:r>
            <a:r>
              <a:rPr lang="en-US" sz="20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Ahmed Shokry</a:t>
            </a:r>
            <a:r>
              <a:rPr lang="en-US" sz="2000" dirty="0">
                <a:solidFill>
                  <a:schemeClr val="bg1"/>
                </a:solidFill>
              </a:rPr>
              <a:t>²</a:t>
            </a:r>
            <a:r>
              <a:rPr lang="en-US" sz="20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Moustafa Youssef</a:t>
            </a:r>
            <a:r>
              <a:rPr lang="en-US" sz="2000" dirty="0">
                <a:solidFill>
                  <a:schemeClr val="bg1"/>
                </a:solidFill>
              </a:rPr>
              <a:t>¹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¹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University in Cairo  ·  </a:t>
            </a:r>
            <a:r>
              <a:rPr lang="en-US" sz="1600" dirty="0">
                <a:solidFill>
                  <a:schemeClr val="bg1"/>
                </a:solidFill>
              </a:rPr>
              <a:t>²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Pennsylvania State University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931920"/>
            <a:ext cx="3840480" cy="594360"/>
          </a:xfrm>
          <a:prstGeom prst="rect">
            <a:avLst/>
          </a:prstGeom>
          <a:solidFill>
            <a:srgbClr val="0D9488">
              <a:alpha val="85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319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QCNC 2026  ·  April 6–8, Kobe, Japan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D9074E-6418-25F9-DAD8-442DF2846127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3">
            <a:alphaModFix amt="9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3" t="18907" r="7312" b="21251"/>
          <a:stretch>
            <a:fillRect/>
          </a:stretch>
        </p:blipFill>
        <p:spPr bwMode="auto">
          <a:xfrm>
            <a:off x="8077200" y="69319"/>
            <a:ext cx="1005840" cy="64008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 descr="University Mark and Shield | Penn State Brand Book">
            <a:extLst>
              <a:ext uri="{FF2B5EF4-FFF2-40B4-BE49-F238E27FC236}">
                <a16:creationId xmlns:a16="http://schemas.microsoft.com/office/drawing/2014/main" id="{16C5F7F0-8368-5566-0766-C95436B1BDB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351" y="69319"/>
            <a:ext cx="1005840" cy="64008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Indoor Localization?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0467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You enter a hospital, airport, or warehouse. GPS doesn't work indoors. How does an app know exactly where you are?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72768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727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OFFLINE (Setup)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Radio Map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871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walks through the building with a device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2724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known location, the device records WiFi signal strengths (RSS) from every nearby access point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673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readings are stored as a fingerprint database: location → signal pattern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1713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40740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teaching the system what every spot 'sounds like' in radio waves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572768"/>
            <a:ext cx="416052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72768"/>
            <a:ext cx="41605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5727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ONLINE (Live Use)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0116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User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46320" y="2596896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48716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phone passively picks up WiFi signals from nearby APs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3236976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12724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signal pattern is compared to the fingerprint database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3877056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7673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best-matching location in the database is returned as the estimated position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4517136"/>
            <a:ext cx="128016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440740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 needed, just existing WiFi infrastructure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62272" y="3246120"/>
            <a:ext cx="182880" cy="27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301752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2AE33-1ED5-FF2B-6287-C7F7DA6D4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11" y="171701"/>
            <a:ext cx="8800178" cy="480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34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Point Selection Problem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229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building has hundreds of WiFi access points (APs). Using all of them is expensive and creates noise. Which APs should you keep?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8346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APs → Problems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signals inflate database size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slower with more APs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566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APs hurt localization accuracy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34256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hardware &amp; maintenance cost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8346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9164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Selection is Slow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2304288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subset = NP-hard combinatorial problem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29000" y="2980944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28895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Greedy/PCA methods don't scale to 500+ APs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29000" y="36576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566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search of all combinations is infeasible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429000" y="4334256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guarantee on number of selected APs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17920" y="1691640"/>
            <a:ext cx="28346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69164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91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Quantum Solution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0" y="23042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2128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as QUBO, solved by quantum annealing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298094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2889504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AP importance (signal discrimination)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00800" y="36576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5661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AP redundancy (correlated signals)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43342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4242816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strict budget: select exactly k APs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4320" y="5074920"/>
            <a:ext cx="8595360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5074920"/>
            <a:ext cx="8595360" cy="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Quantum?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346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960120"/>
            <a:ext cx="47548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9875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Problem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912" y="1508760"/>
            <a:ext cx="2487168" cy="27432"/>
          </a:xfrm>
          <a:prstGeom prst="rect">
            <a:avLst/>
          </a:prstGeom>
          <a:solidFill>
            <a:srgbClr val="2563EB">
              <a:alpha val="50000"/>
            </a:srgbClr>
          </a:solidFill>
          <a:ln w="12700">
            <a:solidFill>
              <a:srgbClr val="2563E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00200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and smart buildings can have 500+ APs. Classical algorithms that try every combination of APs grow exponentially. They simply cannot scale to global deployments.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46120" y="822960"/>
            <a:ext cx="28346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0712" y="960120"/>
            <a:ext cx="47548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59352" y="9875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Is Harder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10712" y="1508760"/>
            <a:ext cx="2487168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600200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prior work handles 2D floor plans. Real applications need 3D: latitude, longitude, and floor. Adding the vertical dimension multiplies the search complexity further.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7920" y="822960"/>
            <a:ext cx="28346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960120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31152" y="9875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Constraint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382512" y="1508760"/>
            <a:ext cx="2487168" cy="27432"/>
          </a:xfrm>
          <a:prstGeom prst="rect">
            <a:avLst/>
          </a:prstGeom>
          <a:solidFill>
            <a:srgbClr val="D97706">
              <a:alpha val="5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600200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quantum AP selection methods select APs freely. They may pick 200 when you can only deploy 20. A strict hardware budget constraint is essential for real deployment.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74320" y="5102352"/>
            <a:ext cx="859536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5093208"/>
            <a:ext cx="8595360" cy="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5093208"/>
            <a:ext cx="8595360" cy="0"/>
          </a:xfrm>
          <a:prstGeom prst="rect">
            <a:avLst/>
          </a:prstGeom>
          <a:solidFill>
            <a:srgbClr val="1A2D6B"/>
          </a:solidFill>
          <a:ln w="12700">
            <a:solidFill>
              <a:srgbClr val="1A2D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892040"/>
            <a:ext cx="859536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Quantum Annealing &amp; QUBO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6052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8912" y="1353312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9844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many candidate solutions simultaneously, not one at a time like classical methods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2075688"/>
            <a:ext cx="381304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194560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3969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41401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'tunnel' through energy barriers, escaping local minima that trap classical optimizers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" y="2916936"/>
            <a:ext cx="381304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3035808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8094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optimization problems onto a mathematical form solvable by quantum hardware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912" y="3758184"/>
            <a:ext cx="381304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3877056"/>
            <a:ext cx="128016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2219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OpenJij / D-Wave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09651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simulator and hardware used to solve our AP selection problem</a:t>
            </a:r>
            <a:endParaRPr lang="en-US" sz="13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A8D54609-43A1-4383-AF30-B0C38F2CD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59" y="841603"/>
            <a:ext cx="2472566" cy="185499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1FBFE9D-B02E-EFD1-9197-E0B69233D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859" y="2874521"/>
            <a:ext cx="2472566" cy="2111299"/>
          </a:xfrm>
          <a:prstGeom prst="rect">
            <a:avLst/>
          </a:prstGeom>
        </p:spPr>
      </p:pic>
      <p:sp>
        <p:nvSpPr>
          <p:cNvPr id="48" name="Shape 3">
            <a:extLst>
              <a:ext uri="{FF2B5EF4-FFF2-40B4-BE49-F238E27FC236}">
                <a16:creationId xmlns:a16="http://schemas.microsoft.com/office/drawing/2014/main" id="{7A3B1F2D-95FD-6295-BC44-A0FDAFF67567}"/>
              </a:ext>
            </a:extLst>
          </p:cNvPr>
          <p:cNvSpPr/>
          <p:nvPr/>
        </p:nvSpPr>
        <p:spPr>
          <a:xfrm>
            <a:off x="4709162" y="1470533"/>
            <a:ext cx="1322045" cy="761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1EA33A8D-6380-4C91-EE83-4D6EAE667279}"/>
              </a:ext>
            </a:extLst>
          </p:cNvPr>
          <p:cNvSpPr/>
          <p:nvPr/>
        </p:nvSpPr>
        <p:spPr>
          <a:xfrm>
            <a:off x="4772171" y="1763849"/>
            <a:ext cx="1196025" cy="306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Metric</a:t>
            </a:r>
            <a:endParaRPr lang="en-US" sz="1600" dirty="0"/>
          </a:p>
        </p:txBody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655EFCA1-9420-85A4-E836-B1CA3AF88E17}"/>
              </a:ext>
            </a:extLst>
          </p:cNvPr>
          <p:cNvSpPr/>
          <p:nvPr/>
        </p:nvSpPr>
        <p:spPr>
          <a:xfrm>
            <a:off x="4709162" y="3496400"/>
            <a:ext cx="1322045" cy="761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6F80C41A-D3A5-3C17-614D-D56553032075}"/>
              </a:ext>
            </a:extLst>
          </p:cNvPr>
          <p:cNvSpPr/>
          <p:nvPr/>
        </p:nvSpPr>
        <p:spPr>
          <a:xfrm>
            <a:off x="4772171" y="3789716"/>
            <a:ext cx="1240748" cy="306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Metric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Formulation</a:t>
            </a:r>
            <a:endParaRPr lang="en-US" sz="2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E8C2A3-F451-02E2-72DE-2B2943331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89"/>
          <a:stretch>
            <a:fillRect/>
          </a:stretch>
        </p:blipFill>
        <p:spPr>
          <a:xfrm>
            <a:off x="656303" y="1275736"/>
            <a:ext cx="7905136" cy="320634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82880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252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UJIIndoorLoc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5-floor building · ~110 m² per floor · publicly available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68680"/>
            <a:ext cx="18288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252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APs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Building APs + neighboring overheard APs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86000"/>
            <a:ext cx="182880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77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26700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21,048 samples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864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3D labels: latitude, longitude, floor (z = 3.0 m per floor)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86000"/>
            <a:ext cx="182880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Solver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26700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OpenJij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1,000 reads · 1,000 sweeps · Monte Carlo quantum simulation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03320"/>
            <a:ext cx="182880" cy="12618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4087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i7-12700H @ 2.30 GHz · 16 GB RAM · Windows 11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182880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7947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Model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37760" y="4087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37760" y="4480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Floor classification &amp; 3D position estimation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Metric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0960" y="800100"/>
            <a:ext cx="8595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241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3D Localization Error (m) — Lower is Better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721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546386" y="14721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1488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02165" y="21488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82549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9306" y="279806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502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229600" y="3503627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526280"/>
            <a:ext cx="8595360" cy="585216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5445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Entropy best captures location-discriminative signal variation. Shannon entropy measures RSS diversity across all fingerprint locations, directly aligned with what fingerprinting needs.</a:t>
            </a:r>
            <a:endParaRPr lang="en-US" sz="14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D65FACE-69EC-CE09-6037-1846DE8D0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575" y="1167187"/>
            <a:ext cx="4669834" cy="32043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Hyperparameter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83464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Parameter α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2336" y="1261872"/>
            <a:ext cx="2578608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6187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α = 0.8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" y="1691640"/>
            <a:ext cx="257860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3429000"/>
            <a:ext cx="257860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349300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" y="374904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Importance-dominant weighting is more effective than redundancy-dominant in 3D fingerprinting.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822960"/>
            <a:ext cx="283464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2296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Coefficient η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374136" y="1261872"/>
            <a:ext cx="2578608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26187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η = 2.0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74136" y="1691640"/>
            <a:ext cx="257860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74136" y="3429000"/>
            <a:ext cx="257860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49300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74136" y="374904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η traps the annealer in local minima before reaching the target k — accuracy collapses.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822960"/>
            <a:ext cx="283464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822960"/>
            <a:ext cx="28346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822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Budget k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45936" y="1261872"/>
            <a:ext cx="2578608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126187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k = 20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45936" y="1691640"/>
            <a:ext cx="257860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45936" y="3429000"/>
            <a:ext cx="2578608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493008"/>
            <a:ext cx="2578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45936" y="3749040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 AP reduction (520 → 20) with comparable 3D localization accuracy vs. using all APs.</a:t>
            </a:r>
            <a:endParaRPr lang="en-US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83E9720-FA45-FC66-8DB9-0EE0905F2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264" y="1784309"/>
            <a:ext cx="2651100" cy="199067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E967698-5A1A-4736-5C99-1C85D4857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586" y="1948901"/>
            <a:ext cx="2723707" cy="186893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FA0D1F2-0F81-AF92-6B81-575CDC5728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953928"/>
            <a:ext cx="2674734" cy="1836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Quantum vs. Classical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121408" cy="1115568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(520 → 20 APs)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87168" y="822960"/>
            <a:ext cx="2121408" cy="111556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87168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over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822960"/>
            <a:ext cx="2121408" cy="1115568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00016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3D Error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vs. SA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12864" y="822960"/>
            <a:ext cx="2121408" cy="11155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12864" y="868680"/>
            <a:ext cx="21214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12864" y="1499616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Time-to-Solution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(Quantum)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85953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13969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578608"/>
            <a:ext cx="21488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2578608"/>
            <a:ext cx="141732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5786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Used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2578608"/>
            <a:ext cx="16916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3D Error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578608"/>
            <a:ext cx="169164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Accuracy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52360" y="2578608"/>
            <a:ext cx="137160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578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2990088"/>
            <a:ext cx="214884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900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51760" y="2990088"/>
            <a:ext cx="141732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29900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69080" y="2990088"/>
            <a:ext cx="169164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6908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m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60720" y="2990088"/>
            <a:ext cx="169164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990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52360" y="2990088"/>
            <a:ext cx="137160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2990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3538728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5387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51760" y="3538728"/>
            <a:ext cx="1417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35387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69080" y="3538728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538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 m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760720" y="3538728"/>
            <a:ext cx="1691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3538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52360" y="353872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5387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12.28 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2920" y="4087368"/>
            <a:ext cx="214884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08736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★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651760" y="4087368"/>
            <a:ext cx="141732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40873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069080" y="4087368"/>
            <a:ext cx="169164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69080" y="40873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 m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760720" y="4087368"/>
            <a:ext cx="169164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408736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452360" y="4087368"/>
            <a:ext cx="1371600" cy="50292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52360" y="40873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★  Quantum annealing achieves best accuracy AND fastest runtime with fewest APs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Localization Accuracy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39" y="759651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Classification Accuracy (%)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2376" y="2091233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82240" y="2499421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55392" y="45079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8136" y="2164933"/>
            <a:ext cx="548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3272" y="45079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4800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852928" y="4800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56048" y="4800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607808" y="777240"/>
            <a:ext cx="1417320" cy="422452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53528" y="841248"/>
            <a:ext cx="1298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APs?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62672" y="173736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91272" y="1691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APs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62672" y="241401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91272" y="236829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62672" y="30906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91272" y="304495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662672" y="376732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91272" y="372160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tunneling</a:t>
            </a:r>
            <a:endParaRPr lang="en-US" sz="10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03A6BBB2-CBFE-3009-69E8-58770A94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70" y="1080871"/>
            <a:ext cx="6106939" cy="39956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Speedup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5690" y="4595301"/>
            <a:ext cx="8052619" cy="471949"/>
          </a:xfrm>
          <a:prstGeom prst="rect">
            <a:avLst/>
          </a:prstGeom>
          <a:solidFill>
            <a:srgbClr val="1E3A8A"/>
          </a:solidFill>
          <a:ln w="2540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" y="4219401"/>
            <a:ext cx="19202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61×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65678" y="4219401"/>
            <a:ext cx="818572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 achieves a 61× speedup over classical Simulated Annealing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QUBO problem, same budget constraint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39" y="78043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 Time Comparison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856C57-8FFF-CD34-FCAF-72E120525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207" y="1157530"/>
            <a:ext cx="4875363" cy="33419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2DD4BF">
              <a:alpha val="45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786384"/>
            <a:ext cx="8412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60120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QUBO formulation with a strict AP budget constraint for 3D indoor localization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1728216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64208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 reduction in required APs (520 → 20) with negligible accuracy loss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" y="2432304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368296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floor accuracy — outperforming classical SA (58.6%) and all-AP baseline (70.4%)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3136392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72384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61× speedup: 0.20 s vs 12.28 s for simulated annealing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" y="384048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76472"/>
            <a:ext cx="8092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Entropy-based importance metric identified as optimal for fingerprinting workloads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" y="4590288"/>
            <a:ext cx="841248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590288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Real D-Wave hardware deployment  ·  Multi-building 3D scaling  ·  Journal fast-track (Digital Communications &amp; Networks)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4608"/>
            <a:ext cx="91440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2461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1938528"/>
            <a:ext cx="6217920" cy="2148840"/>
          </a:xfrm>
          <a:prstGeom prst="rect">
            <a:avLst/>
          </a:prstGeom>
          <a:solidFill>
            <a:srgbClr val="0F2040"/>
          </a:solidFill>
          <a:ln w="1905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2011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Khalil Brik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245059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mohamedkhalil.brik@aucegypt.edu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77977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University in Cairo  ·  Computer Science &amp; 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3145536"/>
            <a:ext cx="530352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200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khalilbriktn.github.io/personal-website/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QCNC 2026  ·  Kobe, Japan  ·  April 6–8,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93</TotalTime>
  <Words>973</Words>
  <Application>Microsoft Office PowerPoint</Application>
  <PresentationFormat>On-screen Show (16:9)</PresentationFormat>
  <Paragraphs>173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Optimization for Access Point Selection Under Budget Constraint</dc:title>
  <dc:subject>PptxGenJS Presentation</dc:subject>
  <dc:creator>Mohamed Khalil Brik</dc:creator>
  <cp:lastModifiedBy>Mohamed Khalil Brik</cp:lastModifiedBy>
  <cp:revision>8</cp:revision>
  <dcterms:created xsi:type="dcterms:W3CDTF">2026-03-23T14:18:11Z</dcterms:created>
  <dcterms:modified xsi:type="dcterms:W3CDTF">2026-03-23T16:24:59Z</dcterms:modified>
</cp:coreProperties>
</file>